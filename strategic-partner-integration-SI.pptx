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42" d="100"/>
          <a:sy n="142" d="100"/>
        </p:scale>
        <p:origin x="-464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84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310896" y="29260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Partner Integration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0896" y="6217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10896" y="868680"/>
            <a:ext cx="11567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92608" y="656539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94A3B8"/>
                </a:solidFill>
              </a:rPr>
              <a:t>Solution Intent | Strategic Partner Integration | 1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310896" y="164592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Simplified Solution Intent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3026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1920"/>
                </a:solidFill>
              </a:rPr>
              <a:t>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02666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Partner must exchange data and business transactions with multiple internal systems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Real-time and batch patterns are both required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Direct point-to-point coupling should be avoided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270248" y="1536192"/>
            <a:ext cx="3026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70248" y="1783080"/>
            <a:ext cx="302666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Secure and scalable partner integration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Reliable transaction processing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Decouple partner from internal systems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Reusable foundation for future partners and automation and AI initiatives.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90688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7900416" y="1536192"/>
            <a:ext cx="3026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B66"/>
                </a:solidFill>
              </a:rPr>
              <a:t>KEY ASSUMPTIONS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0416" y="1783080"/>
            <a:ext cx="302666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Partner supports REST APIs and secure file transfer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Some real-time interactions can be processed asynchronously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Internal systems are heterogeneous: OMS, WMS, ERP/POS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Volume, SLA, RTO/RPO and compliance scope need discovery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58704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310896" y="29260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Requirements &amp; NFRs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0896" y="6217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10896" y="868680"/>
            <a:ext cx="11567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92608" y="656539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94A3B8"/>
                </a:solidFill>
              </a:rPr>
              <a:t>Solution Intent | Strategic Partner Integration | 2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 dirty="0"/>
          </a:p>
        </p:txBody>
      </p:sp>
      <p:sp>
        <p:nvSpPr>
          <p:cNvPr id="8" name="Text 6"/>
          <p:cNvSpPr/>
          <p:nvPr/>
        </p:nvSpPr>
        <p:spPr>
          <a:xfrm>
            <a:off x="612648" y="1353312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</a:rPr>
              <a:t>FUNCTIONAL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600200"/>
            <a:ext cx="2340864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Real-time transaction submission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Asynchronous downstream processing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Scheduled batch/file exchange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Routing and transformation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Acknowledgement and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Retry and replay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23444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E7F7F4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 dirty="0"/>
          </a:p>
        </p:txBody>
      </p:sp>
      <p:sp>
        <p:nvSpPr>
          <p:cNvPr id="11" name="Text 9"/>
          <p:cNvSpPr/>
          <p:nvPr/>
        </p:nvSpPr>
        <p:spPr>
          <a:xfrm>
            <a:off x="3538728" y="1353312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B66"/>
                </a:solidFill>
              </a:rPr>
              <a:t>NON-FUNCTIONAL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8728" y="1600200"/>
            <a:ext cx="2340864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Security &amp; compliance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Scalability &amp; performance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Availability &amp; resiliency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Disaster recovery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Observability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Contract/version governance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23444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DEDE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 dirty="0"/>
          </a:p>
        </p:txBody>
      </p:sp>
      <p:sp>
        <p:nvSpPr>
          <p:cNvPr id="14" name="Text 12"/>
          <p:cNvSpPr/>
          <p:nvPr/>
        </p:nvSpPr>
        <p:spPr>
          <a:xfrm>
            <a:off x="6464808" y="1353312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1920"/>
                </a:solidFill>
              </a:rPr>
              <a:t>RELIABILITY PRINCIPLES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1600200"/>
            <a:ext cx="2340864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No acknowledged transaction should be silently lost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Duplicate delivery must be handled safely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Failed transactions must be traceable and recoverable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81160" y="1234440"/>
            <a:ext cx="2377440" cy="2834640"/>
          </a:xfrm>
          <a:prstGeom prst="roundRect">
            <a:avLst>
              <a:gd name="adj" fmla="val 2308"/>
            </a:avLst>
          </a:prstGeom>
          <a:solidFill>
            <a:srgbClr val="F4F7F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9390888" y="1353312"/>
            <a:ext cx="2157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EE1"/>
                </a:solidFill>
              </a:rPr>
              <a:t>SCALABILITY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90888" y="1600200"/>
            <a:ext cx="2157984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Autofit/>
          </a:bodyPr>
          <a:lstStyle/>
          <a:p>
            <a:pPr marL="0" indent="0">
              <a:buNone/>
            </a:pPr>
            <a:r>
              <a:rPr lang="en-GB" sz="1200" b="1" dirty="0"/>
              <a:t>API / Services:</a:t>
            </a:r>
            <a:r>
              <a:rPr lang="en-GB" sz="1200" dirty="0"/>
              <a:t> stateless horizontal scaling </a:t>
            </a:r>
            <a:br>
              <a:rPr lang="en-GB" sz="1200" dirty="0"/>
            </a:br>
            <a:br>
              <a:rPr lang="en-GB" sz="1200" dirty="0"/>
            </a:br>
            <a:r>
              <a:rPr lang="en-GB" sz="1200" b="1" dirty="0"/>
              <a:t>Messaging:</a:t>
            </a:r>
            <a:r>
              <a:rPr lang="en-GB" sz="1200" dirty="0"/>
              <a:t> partitions and consumer</a:t>
            </a:r>
            <a:br>
              <a:rPr lang="en-GB" sz="1200" dirty="0"/>
            </a:br>
            <a:r>
              <a:rPr lang="en-GB" sz="1200" dirty="0"/>
              <a:t>groups </a:t>
            </a:r>
            <a:br>
              <a:rPr lang="en-GB" sz="1200" dirty="0"/>
            </a:br>
            <a:br>
              <a:rPr lang="en-GB" sz="1200" dirty="0"/>
            </a:br>
            <a:r>
              <a:rPr lang="en-GB" sz="1200" b="1" dirty="0"/>
              <a:t>Operational DB / State Store:</a:t>
            </a:r>
            <a:r>
              <a:rPr lang="en-GB" sz="1200" dirty="0"/>
              <a:t> partitioning/sharding, indexing, read/write scaling </a:t>
            </a:r>
            <a:br>
              <a:rPr lang="en-GB" sz="1200" dirty="0"/>
            </a:br>
            <a:br>
              <a:rPr lang="en-GB" sz="1200" dirty="0"/>
            </a:br>
            <a:r>
              <a:rPr lang="en-GB" sz="1200" b="1" dirty="0"/>
              <a:t>Batch:</a:t>
            </a:r>
            <a:r>
              <a:rPr lang="en-GB" sz="1200" dirty="0"/>
              <a:t> chunking and parallel processing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89888" y="4329954"/>
            <a:ext cx="9418320" cy="70839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1383792" y="4434839"/>
            <a:ext cx="8903208" cy="43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</a:rPr>
              <a:t>Core Architecture Principle : Business data remains owned by domain systems; </a:t>
            </a:r>
            <a:br>
              <a:rPr lang="en-US" sz="1200" dirty="0">
                <a:solidFill>
                  <a:srgbClr val="0B1F3A"/>
                </a:solidFill>
              </a:rPr>
            </a:br>
            <a:r>
              <a:rPr lang="en-US" sz="1200" dirty="0">
                <a:solidFill>
                  <a:srgbClr val="0B1F3A"/>
                </a:solidFill>
              </a:rPr>
              <a:t>the integration layer stores only operational state needed for reliability and visibility.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83791" y="5404103"/>
            <a:ext cx="9418319" cy="832105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889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 dirty="0"/>
          </a:p>
        </p:txBody>
      </p:sp>
      <p:sp>
        <p:nvSpPr>
          <p:cNvPr id="22" name="Text 20"/>
          <p:cNvSpPr/>
          <p:nvPr/>
        </p:nvSpPr>
        <p:spPr>
          <a:xfrm>
            <a:off x="1963271" y="5468918"/>
            <a:ext cx="8538882" cy="74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A3412"/>
                </a:solidFill>
              </a:rPr>
              <a:t>Operational state store technology will be selected by consistency, query, throughput and retention needs.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12">
            <a:extLst>
              <a:ext uri="{FF2B5EF4-FFF2-40B4-BE49-F238E27FC236}">
                <a16:creationId xmlns:a16="http://schemas.microsoft.com/office/drawing/2014/main" id="{702DE0DA-9390-16B2-C8F6-BFCBD95D77F6}"/>
              </a:ext>
            </a:extLst>
          </p:cNvPr>
          <p:cNvSpPr/>
          <p:nvPr/>
        </p:nvSpPr>
        <p:spPr>
          <a:xfrm>
            <a:off x="4123945" y="5091160"/>
            <a:ext cx="1321498" cy="374904"/>
          </a:xfrm>
          <a:prstGeom prst="roundRect">
            <a:avLst>
              <a:gd name="adj" fmla="val 9091"/>
            </a:avLst>
          </a:prstGeom>
          <a:solidFill>
            <a:srgbClr val="EAF8F2"/>
          </a:solidFill>
          <a:ln w="12700">
            <a:solidFill>
              <a:srgbClr val="1E7B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3" name="Shape 12">
            <a:extLst>
              <a:ext uri="{FF2B5EF4-FFF2-40B4-BE49-F238E27FC236}">
                <a16:creationId xmlns:a16="http://schemas.microsoft.com/office/drawing/2014/main" id="{BA425DDE-B487-6992-E447-C5AE46477AC3}"/>
              </a:ext>
            </a:extLst>
          </p:cNvPr>
          <p:cNvSpPr/>
          <p:nvPr/>
        </p:nvSpPr>
        <p:spPr>
          <a:xfrm>
            <a:off x="2537340" y="5093209"/>
            <a:ext cx="1321498" cy="374904"/>
          </a:xfrm>
          <a:prstGeom prst="roundRect">
            <a:avLst>
              <a:gd name="adj" fmla="val 9091"/>
            </a:avLst>
          </a:prstGeom>
          <a:solidFill>
            <a:srgbClr val="EAF8F2"/>
          </a:solidFill>
          <a:ln w="12700">
            <a:solidFill>
              <a:srgbClr val="1E7B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2" name="Shape 12">
            <a:extLst>
              <a:ext uri="{FF2B5EF4-FFF2-40B4-BE49-F238E27FC236}">
                <a16:creationId xmlns:a16="http://schemas.microsoft.com/office/drawing/2014/main" id="{F645DFFF-9461-495A-AD1A-FDEE1BB6C888}"/>
              </a:ext>
            </a:extLst>
          </p:cNvPr>
          <p:cNvSpPr/>
          <p:nvPr/>
        </p:nvSpPr>
        <p:spPr>
          <a:xfrm>
            <a:off x="777234" y="5093209"/>
            <a:ext cx="1321498" cy="374904"/>
          </a:xfrm>
          <a:prstGeom prst="roundRect">
            <a:avLst>
              <a:gd name="adj" fmla="val 9091"/>
            </a:avLst>
          </a:prstGeom>
          <a:solidFill>
            <a:srgbClr val="EAF8F2"/>
          </a:solidFill>
          <a:ln w="12700">
            <a:solidFill>
              <a:srgbClr val="1E7B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310896" y="29260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Target-State Real-Time Integration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0896" y="6217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10896" y="868680"/>
            <a:ext cx="11567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92608" y="656539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94A3B8"/>
                </a:solidFill>
              </a:rPr>
              <a:t>Solution Intent | Strategic Partner Integration | 3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868680" y="109728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BA7D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905256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</a:rPr>
              <a:t>Strategic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</a:rPr>
              <a:t>Partner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435608" y="1517904"/>
            <a:ext cx="0" cy="329184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1554480" y="162763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8091A7"/>
                </a:solidFill>
              </a:rPr>
              <a:t>REST API</a:t>
            </a:r>
            <a:endParaRPr lang="en-US" sz="520" dirty="0"/>
          </a:p>
        </p:txBody>
      </p:sp>
      <p:sp>
        <p:nvSpPr>
          <p:cNvPr id="11" name="Shape 9"/>
          <p:cNvSpPr/>
          <p:nvPr/>
        </p:nvSpPr>
        <p:spPr>
          <a:xfrm>
            <a:off x="704088" y="1847088"/>
            <a:ext cx="1481328" cy="475488"/>
          </a:xfrm>
          <a:prstGeom prst="roundRect">
            <a:avLst>
              <a:gd name="adj" fmla="val 9615"/>
            </a:avLst>
          </a:prstGeom>
          <a:solidFill>
            <a:srgbClr val="EAF3FF"/>
          </a:solidFill>
          <a:ln w="12700">
            <a:solidFill>
              <a:srgbClr val="2A6FB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740664" y="1892808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11827"/>
                </a:solidFill>
              </a:rPr>
              <a:t>API Gateway / WAF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11827"/>
                </a:solidFill>
              </a:rPr>
              <a:t>Auth • Rate Limit • Contract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435608" y="2331720"/>
            <a:ext cx="0" cy="347472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704088" y="2679192"/>
            <a:ext cx="1481328" cy="502920"/>
          </a:xfrm>
          <a:prstGeom prst="roundRect">
            <a:avLst>
              <a:gd name="adj" fmla="val 9091"/>
            </a:avLst>
          </a:prstGeom>
          <a:solidFill>
            <a:srgbClr val="EAF8F2"/>
          </a:solidFill>
          <a:ln w="12700">
            <a:solidFill>
              <a:srgbClr val="1E7B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740664" y="272491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11827"/>
                </a:solidFill>
              </a:rPr>
              <a:t>Integration API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11827"/>
                </a:solidFill>
              </a:rPr>
              <a:t>(Validation , Correlation ID)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2194560" y="2926080"/>
            <a:ext cx="1143000" cy="0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3383280" y="2523744"/>
            <a:ext cx="1737360" cy="841248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438144" y="2596896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Operational State Store</a:t>
            </a:r>
            <a:endParaRPr lang="en-US" sz="620" b="1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Idempotency key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Request/status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Correlation metadata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3703320" y="3410711"/>
            <a:ext cx="1097280" cy="1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67085"/>
                </a:solidFill>
              </a:rPr>
              <a:t>Operational State Only </a:t>
            </a:r>
            <a:br>
              <a:rPr lang="en-US" sz="480" dirty="0">
                <a:solidFill>
                  <a:srgbClr val="667085"/>
                </a:solidFill>
              </a:rPr>
            </a:br>
            <a:r>
              <a:rPr lang="en-US" sz="480" dirty="0">
                <a:solidFill>
                  <a:srgbClr val="667085"/>
                </a:solidFill>
              </a:rPr>
              <a:t>Domain Systems remain source of truth</a:t>
            </a:r>
            <a:endParaRPr lang="en-US" sz="480" dirty="0"/>
          </a:p>
        </p:txBody>
      </p:sp>
      <p:sp>
        <p:nvSpPr>
          <p:cNvPr id="20" name="Shape 18"/>
          <p:cNvSpPr/>
          <p:nvPr/>
        </p:nvSpPr>
        <p:spPr>
          <a:xfrm>
            <a:off x="1435608" y="3191256"/>
            <a:ext cx="0" cy="466344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1554480" y="341985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8091A7"/>
                </a:solidFill>
              </a:rPr>
              <a:t>durable publish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1435608" y="4224528"/>
            <a:ext cx="0" cy="49377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1435607" y="4718303"/>
            <a:ext cx="4928615" cy="18251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1435608" y="4718304"/>
            <a:ext cx="0" cy="35661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3111673" y="4727448"/>
            <a:ext cx="0" cy="35661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4689867" y="4736554"/>
            <a:ext cx="0" cy="35661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95528" y="512064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OMS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Adapter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2528508" y="5129784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WMS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Adapter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4119529" y="5129784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ERP/POS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Adapter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1417320" y="5468112"/>
            <a:ext cx="0" cy="292608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3126302" y="5468112"/>
            <a:ext cx="0" cy="292608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7" name="Shape 35"/>
          <p:cNvSpPr/>
          <p:nvPr/>
        </p:nvSpPr>
        <p:spPr>
          <a:xfrm>
            <a:off x="4680120" y="5468112"/>
            <a:ext cx="0" cy="292608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8" name="Shape 36"/>
          <p:cNvSpPr/>
          <p:nvPr/>
        </p:nvSpPr>
        <p:spPr>
          <a:xfrm>
            <a:off x="914400" y="57607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/>
          <p:nvPr/>
        </p:nvSpPr>
        <p:spPr>
          <a:xfrm>
            <a:off x="950976" y="580644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OMS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2666667" y="577077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2688528" y="581562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WMS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4300061" y="5742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Text 41"/>
          <p:cNvSpPr/>
          <p:nvPr/>
        </p:nvSpPr>
        <p:spPr>
          <a:xfrm>
            <a:off x="4341019" y="580644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ERP/POS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692298" y="1197845"/>
            <a:ext cx="5919815" cy="868680"/>
          </a:xfrm>
          <a:prstGeom prst="roundRect">
            <a:avLst>
              <a:gd name="adj" fmla="val 6316"/>
            </a:avLst>
          </a:prstGeom>
          <a:solidFill>
            <a:srgbClr val="E7F7F4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5" name="Text 43"/>
          <p:cNvSpPr/>
          <p:nvPr/>
        </p:nvSpPr>
        <p:spPr>
          <a:xfrm>
            <a:off x="5898530" y="1300812"/>
            <a:ext cx="1975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200" b="1">
                <a:solidFill>
                  <a:srgbClr val="0B1F3A"/>
                </a:solidFill>
                <a:latin typeface="Aptos"/>
              </a:defRPr>
            </a:pPr>
            <a:r>
              <a:rPr lang="en-GB" sz="800" b="1" dirty="0">
                <a:solidFill>
                  <a:srgbClr val="0B1F3A"/>
                </a:solidFill>
                <a:latin typeface="Aptos"/>
              </a:rPr>
              <a:t>Two-stage response model</a:t>
            </a:r>
          </a:p>
        </p:txBody>
      </p:sp>
      <p:sp>
        <p:nvSpPr>
          <p:cNvPr id="46" name="Text 44"/>
          <p:cNvSpPr/>
          <p:nvPr/>
        </p:nvSpPr>
        <p:spPr>
          <a:xfrm>
            <a:off x="5829458" y="1547700"/>
            <a:ext cx="19751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/>
          </a:bodyPr>
          <a:lstStyle/>
          <a:p>
            <a:r>
              <a:rPr lang="en-GB" sz="900" b="0" dirty="0">
                <a:solidFill>
                  <a:srgbClr val="0F172A"/>
                </a:solidFill>
                <a:latin typeface="Aptos"/>
              </a:rPr>
              <a:t> 1. API returns technical acceptance</a:t>
            </a:r>
            <a:br>
              <a:rPr lang="en-GB" sz="800" dirty="0"/>
            </a:br>
            <a:r>
              <a:rPr lang="en-GB" sz="900" b="0" dirty="0">
                <a:solidFill>
                  <a:srgbClr val="0F172A"/>
                </a:solidFill>
                <a:latin typeface="Aptos"/>
              </a:rPr>
              <a:t>202 means the request was validated and durably accepted, not fully completed.</a:t>
            </a:r>
          </a:p>
          <a:p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7040880" y="2331720"/>
            <a:ext cx="45262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1" name="Text 49"/>
          <p:cNvSpPr/>
          <p:nvPr/>
        </p:nvSpPr>
        <p:spPr>
          <a:xfrm>
            <a:off x="7150608" y="2450592"/>
            <a:ext cx="4306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B1F3A"/>
                </a:solidFill>
              </a:rPr>
              <a:t>STORAGE &amp; STATE OWNERSHIP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150608" y="2697480"/>
            <a:ext cx="430682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Operational State Store keeps idempotency, transaction status and correlation metadata. OMS/WMS/ERP remain the business systems of record.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7040880" y="3364992"/>
            <a:ext cx="4526280" cy="1371562"/>
          </a:xfrm>
          <a:prstGeom prst="roundRect">
            <a:avLst>
              <a:gd name="adj" fmla="val 5455"/>
            </a:avLst>
          </a:prstGeom>
          <a:solidFill>
            <a:srgbClr val="F4F7F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4" name="Text 52"/>
          <p:cNvSpPr/>
          <p:nvPr/>
        </p:nvSpPr>
        <p:spPr>
          <a:xfrm>
            <a:off x="7150608" y="3493027"/>
            <a:ext cx="4306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5B6EE1"/>
                </a:solidFill>
              </a:rPr>
              <a:t>SCALABILITY CONTROLS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7150608" y="3724743"/>
            <a:ext cx="4306824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Stateless API instances scale horizontally. </a:t>
            </a:r>
            <a:br>
              <a:rPr lang="en-US" sz="800" dirty="0">
                <a:solidFill>
                  <a:srgbClr val="111827"/>
                </a:solidFill>
              </a:rPr>
            </a:br>
            <a:br>
              <a:rPr lang="en-US" sz="800" dirty="0">
                <a:solidFill>
                  <a:srgbClr val="111827"/>
                </a:solidFill>
              </a:rPr>
            </a:br>
            <a:r>
              <a:rPr lang="en-US" sz="800" dirty="0">
                <a:solidFill>
                  <a:srgbClr val="111827"/>
                </a:solidFill>
              </a:rPr>
              <a:t>Kafka partitions and consumer groups scale throughput. </a:t>
            </a:r>
            <a:br>
              <a:rPr lang="en-US" sz="800" dirty="0">
                <a:solidFill>
                  <a:srgbClr val="111827"/>
                </a:solidFill>
              </a:rPr>
            </a:br>
            <a:br>
              <a:rPr lang="en-US" sz="800" dirty="0">
                <a:solidFill>
                  <a:srgbClr val="111827"/>
                </a:solidFill>
              </a:rPr>
            </a:br>
            <a:r>
              <a:rPr lang="en-US" sz="800" dirty="0">
                <a:solidFill>
                  <a:srgbClr val="111827"/>
                </a:solidFill>
              </a:rPr>
              <a:t>Adapters scale independently based on downstream capacity. </a:t>
            </a:r>
            <a:br>
              <a:rPr lang="en-US" sz="800" dirty="0">
                <a:solidFill>
                  <a:srgbClr val="111827"/>
                </a:solidFill>
              </a:rPr>
            </a:br>
            <a:br>
              <a:rPr lang="en-US" sz="800" dirty="0">
                <a:solidFill>
                  <a:srgbClr val="111827"/>
                </a:solidFill>
              </a:rPr>
            </a:br>
            <a:r>
              <a:rPr lang="en-US" sz="800" dirty="0">
                <a:solidFill>
                  <a:srgbClr val="111827"/>
                </a:solidFill>
              </a:rPr>
              <a:t>Operational state storage scales through partitioning, indexing, and independent read/write scaling.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040880" y="4800600"/>
            <a:ext cx="4526280" cy="749808"/>
          </a:xfrm>
          <a:prstGeom prst="roundRect">
            <a:avLst>
              <a:gd name="adj" fmla="val 7317"/>
            </a:avLst>
          </a:prstGeom>
          <a:solidFill>
            <a:srgbClr val="FDEDE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7" name="Text 55"/>
          <p:cNvSpPr/>
          <p:nvPr/>
        </p:nvSpPr>
        <p:spPr>
          <a:xfrm>
            <a:off x="7150608" y="4919472"/>
            <a:ext cx="4306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71920"/>
                </a:solidFill>
              </a:rPr>
              <a:t>RESILIENCY CONTROLS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7150608" y="5166360"/>
            <a:ext cx="430682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Durable Messaging | Retry | DLQ | Replay | Idempotency | Correlation ID</a:t>
            </a:r>
            <a:endParaRPr lang="en-US" sz="830" dirty="0"/>
          </a:p>
        </p:txBody>
      </p:sp>
      <p:sp>
        <p:nvSpPr>
          <p:cNvPr id="60" name="Direct Access Storage 59">
            <a:extLst>
              <a:ext uri="{FF2B5EF4-FFF2-40B4-BE49-F238E27FC236}">
                <a16:creationId xmlns:a16="http://schemas.microsoft.com/office/drawing/2014/main" id="{3134847D-3E5C-42A8-9407-82AA15D330D2}"/>
              </a:ext>
            </a:extLst>
          </p:cNvPr>
          <p:cNvSpPr/>
          <p:nvPr/>
        </p:nvSpPr>
        <p:spPr>
          <a:xfrm>
            <a:off x="452446" y="3666740"/>
            <a:ext cx="2084891" cy="493776"/>
          </a:xfrm>
          <a:prstGeom prst="flowChartMagneticDru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F3BCA57D-A229-3257-856C-FD4E492CE03C}"/>
              </a:ext>
            </a:extLst>
          </p:cNvPr>
          <p:cNvSpPr/>
          <p:nvPr/>
        </p:nvSpPr>
        <p:spPr>
          <a:xfrm>
            <a:off x="562164" y="3703316"/>
            <a:ext cx="132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Kafka / Event Bus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(partitions,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consumer groups)</a:t>
            </a:r>
            <a:endParaRPr lang="en-US" sz="620" dirty="0"/>
          </a:p>
        </p:txBody>
      </p:sp>
      <p:sp>
        <p:nvSpPr>
          <p:cNvPr id="66" name="Shape 26">
            <a:extLst>
              <a:ext uri="{FF2B5EF4-FFF2-40B4-BE49-F238E27FC236}">
                <a16:creationId xmlns:a16="http://schemas.microsoft.com/office/drawing/2014/main" id="{2AF72742-8CE6-908D-BF64-64B4BE7EBC74}"/>
              </a:ext>
            </a:extLst>
          </p:cNvPr>
          <p:cNvSpPr/>
          <p:nvPr/>
        </p:nvSpPr>
        <p:spPr>
          <a:xfrm>
            <a:off x="6356049" y="4736554"/>
            <a:ext cx="0" cy="35661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 dirty="0"/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927F4DD9-9BE6-983F-61A3-ADC832FE0518}"/>
              </a:ext>
            </a:extLst>
          </p:cNvPr>
          <p:cNvSpPr/>
          <p:nvPr/>
        </p:nvSpPr>
        <p:spPr>
          <a:xfrm flipV="1">
            <a:off x="1442743" y="4224528"/>
            <a:ext cx="0" cy="39623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8" name="Shape 12">
            <a:extLst>
              <a:ext uri="{FF2B5EF4-FFF2-40B4-BE49-F238E27FC236}">
                <a16:creationId xmlns:a16="http://schemas.microsoft.com/office/drawing/2014/main" id="{2F85371A-40F4-0386-1909-EFFE41E6A3C0}"/>
              </a:ext>
            </a:extLst>
          </p:cNvPr>
          <p:cNvSpPr/>
          <p:nvPr/>
        </p:nvSpPr>
        <p:spPr>
          <a:xfrm>
            <a:off x="5621682" y="5129785"/>
            <a:ext cx="1321498" cy="420624"/>
          </a:xfrm>
          <a:prstGeom prst="roundRect">
            <a:avLst>
              <a:gd name="adj" fmla="val 9091"/>
            </a:avLst>
          </a:prstGeom>
          <a:solidFill>
            <a:srgbClr val="EAF8F2"/>
          </a:solidFill>
          <a:ln w="12700">
            <a:solidFill>
              <a:srgbClr val="1E7B66"/>
            </a:solidFill>
            <a:prstDash val="solid"/>
          </a:ln>
        </p:spPr>
        <p:txBody>
          <a:bodyPr/>
          <a:lstStyle/>
          <a:p>
            <a:pPr algn="ctr">
              <a:defRPr sz="730" b="1">
                <a:solidFill>
                  <a:srgbClr val="0B1F3A"/>
                </a:solidFill>
                <a:latin typeface="Aptos"/>
              </a:defRPr>
            </a:pPr>
            <a:r>
              <a:rPr lang="en-GB" sz="800" b="1" dirty="0">
                <a:solidFill>
                  <a:srgbClr val="0B1F3A"/>
                </a:solidFill>
                <a:latin typeface="Aptos"/>
              </a:rPr>
              <a:t>Webhook / Notification</a:t>
            </a:r>
            <a:br>
              <a:rPr lang="en-GB" dirty="0"/>
            </a:br>
            <a:r>
              <a:rPr lang="en-GB" sz="800" b="1" dirty="0">
                <a:solidFill>
                  <a:srgbClr val="0B1F3A"/>
                </a:solidFill>
                <a:latin typeface="Aptos"/>
              </a:rPr>
              <a:t>Service</a:t>
            </a:r>
            <a:br>
              <a:rPr lang="en-GB" dirty="0"/>
            </a:br>
            <a:endParaRPr lang="en-GB" sz="800" b="1" dirty="0">
              <a:solidFill>
                <a:srgbClr val="0B1F3A"/>
              </a:solidFill>
              <a:latin typeface="Aptos"/>
            </a:endParaRPr>
          </a:p>
        </p:txBody>
      </p:sp>
      <p:sp>
        <p:nvSpPr>
          <p:cNvPr id="69" name="Shape 22">
            <a:extLst>
              <a:ext uri="{FF2B5EF4-FFF2-40B4-BE49-F238E27FC236}">
                <a16:creationId xmlns:a16="http://schemas.microsoft.com/office/drawing/2014/main" id="{15F6EE2C-E7C1-3A23-C1F5-5E57645CE13B}"/>
              </a:ext>
            </a:extLst>
          </p:cNvPr>
          <p:cNvSpPr/>
          <p:nvPr/>
        </p:nvSpPr>
        <p:spPr>
          <a:xfrm flipV="1">
            <a:off x="1442743" y="4707322"/>
            <a:ext cx="0" cy="39623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0" name="Shape 22">
            <a:extLst>
              <a:ext uri="{FF2B5EF4-FFF2-40B4-BE49-F238E27FC236}">
                <a16:creationId xmlns:a16="http://schemas.microsoft.com/office/drawing/2014/main" id="{BDABFB01-4106-99FA-F827-BDD2B8ED3226}"/>
              </a:ext>
            </a:extLst>
          </p:cNvPr>
          <p:cNvSpPr/>
          <p:nvPr/>
        </p:nvSpPr>
        <p:spPr>
          <a:xfrm flipV="1">
            <a:off x="3111672" y="4694924"/>
            <a:ext cx="0" cy="39623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DE7CCA7E-AE90-CA97-2EA2-A0543CB182C1}"/>
              </a:ext>
            </a:extLst>
          </p:cNvPr>
          <p:cNvSpPr/>
          <p:nvPr/>
        </p:nvSpPr>
        <p:spPr>
          <a:xfrm flipV="1">
            <a:off x="4689867" y="4727448"/>
            <a:ext cx="0" cy="39623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2" name="Shape 22">
            <a:extLst>
              <a:ext uri="{FF2B5EF4-FFF2-40B4-BE49-F238E27FC236}">
                <a16:creationId xmlns:a16="http://schemas.microsoft.com/office/drawing/2014/main" id="{51894956-6073-63ED-7199-BABF7C9035FA}"/>
              </a:ext>
            </a:extLst>
          </p:cNvPr>
          <p:cNvSpPr/>
          <p:nvPr/>
        </p:nvSpPr>
        <p:spPr>
          <a:xfrm flipV="1">
            <a:off x="6354174" y="4707322"/>
            <a:ext cx="0" cy="396236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0AF7EEDC-0D98-EB20-CBA7-9FD88AFF4EB7}"/>
              </a:ext>
            </a:extLst>
          </p:cNvPr>
          <p:cNvSpPr/>
          <p:nvPr/>
        </p:nvSpPr>
        <p:spPr>
          <a:xfrm>
            <a:off x="5692298" y="5577770"/>
            <a:ext cx="1193784" cy="4206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Partner call back URL registered during onboarding</a:t>
            </a:r>
            <a:endParaRPr lang="en-US" sz="620" dirty="0"/>
          </a:p>
        </p:txBody>
      </p:sp>
      <p:sp>
        <p:nvSpPr>
          <p:cNvPr id="77" name="Text 44">
            <a:extLst>
              <a:ext uri="{FF2B5EF4-FFF2-40B4-BE49-F238E27FC236}">
                <a16:creationId xmlns:a16="http://schemas.microsoft.com/office/drawing/2014/main" id="{F142B9B3-59B8-591B-3880-A104DF345486}"/>
              </a:ext>
            </a:extLst>
          </p:cNvPr>
          <p:cNvSpPr/>
          <p:nvPr/>
        </p:nvSpPr>
        <p:spPr>
          <a:xfrm>
            <a:off x="7661906" y="1536209"/>
            <a:ext cx="19751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>
              <a:defRPr sz="810" b="0">
                <a:solidFill>
                  <a:srgbClr val="0F172A"/>
                </a:solidFill>
                <a:latin typeface="Aptos"/>
              </a:defRPr>
            </a:pPr>
            <a:r>
              <a:rPr lang="en-GB" sz="800" b="0" dirty="0">
                <a:solidFill>
                  <a:srgbClr val="0F172A"/>
                </a:solidFill>
                <a:latin typeface="Aptos"/>
              </a:rPr>
              <a:t>2. Adapters publish business outcome</a:t>
            </a:r>
            <a:br>
              <a:rPr lang="en-GB" sz="800" dirty="0"/>
            </a:br>
            <a:r>
              <a:rPr lang="en-GB" sz="800" b="0" dirty="0">
                <a:solidFill>
                  <a:srgbClr val="0F172A"/>
                </a:solidFill>
                <a:latin typeface="Aptos"/>
              </a:rPr>
              <a:t>After OMS/WMS/ERP processing, adapters publish completion events.</a:t>
            </a:r>
          </a:p>
        </p:txBody>
      </p:sp>
      <p:sp>
        <p:nvSpPr>
          <p:cNvPr id="78" name="Text 44">
            <a:extLst>
              <a:ext uri="{FF2B5EF4-FFF2-40B4-BE49-F238E27FC236}">
                <a16:creationId xmlns:a16="http://schemas.microsoft.com/office/drawing/2014/main" id="{1795845A-18EB-5BE2-534C-7A2448AA19D0}"/>
              </a:ext>
            </a:extLst>
          </p:cNvPr>
          <p:cNvSpPr/>
          <p:nvPr/>
        </p:nvSpPr>
        <p:spPr>
          <a:xfrm>
            <a:off x="9637010" y="1536191"/>
            <a:ext cx="19751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>
              <a:defRPr sz="810" b="0">
                <a:solidFill>
                  <a:srgbClr val="0F172A"/>
                </a:solidFill>
                <a:latin typeface="Aptos"/>
              </a:defRPr>
            </a:pPr>
            <a:r>
              <a:rPr lang="en-GB" sz="800" b="0" dirty="0">
                <a:solidFill>
                  <a:srgbClr val="0F172A"/>
                </a:solidFill>
                <a:latin typeface="Aptos"/>
              </a:rPr>
              <a:t>3. Notification service calls partner</a:t>
            </a:r>
            <a:br>
              <a:rPr lang="en-GB" sz="800" dirty="0"/>
            </a:br>
            <a:r>
              <a:rPr lang="en-GB" sz="800" b="0" dirty="0">
                <a:solidFill>
                  <a:srgbClr val="0F172A"/>
                </a:solidFill>
                <a:latin typeface="Aptos"/>
              </a:rPr>
              <a:t>Callback URL is registered during onboarding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46">
            <a:extLst>
              <a:ext uri="{FF2B5EF4-FFF2-40B4-BE49-F238E27FC236}">
                <a16:creationId xmlns:a16="http://schemas.microsoft.com/office/drawing/2014/main" id="{B4872206-C25B-0382-C8EC-4795CF53F19D}"/>
              </a:ext>
            </a:extLst>
          </p:cNvPr>
          <p:cNvSpPr/>
          <p:nvPr/>
        </p:nvSpPr>
        <p:spPr>
          <a:xfrm>
            <a:off x="2958084" y="3986942"/>
            <a:ext cx="4389120" cy="987552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310896" y="29260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Target-State Batch Integration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0896" y="6217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10896" y="868680"/>
            <a:ext cx="11567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92608" y="656539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94A3B8"/>
                </a:solidFill>
              </a:rPr>
              <a:t>Solution Intent | Strategic Partner Integration | 4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914400" y="1024128"/>
            <a:ext cx="126187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7BA7D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950976" y="1069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</a:rPr>
              <a:t>Strategic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</a:rPr>
              <a:t>Partner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545336" y="1389888"/>
            <a:ext cx="0" cy="393192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1641348" y="1512386"/>
            <a:ext cx="10698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1A7"/>
                </a:solidFill>
              </a:rPr>
              <a:t>SFTP 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9808" y="1783080"/>
            <a:ext cx="1600200" cy="384048"/>
          </a:xfrm>
          <a:prstGeom prst="roundRect">
            <a:avLst>
              <a:gd name="adj" fmla="val 11905"/>
            </a:avLst>
          </a:prstGeom>
          <a:solidFill>
            <a:srgbClr val="EAF3FF"/>
          </a:solidFill>
          <a:ln w="12700">
            <a:solidFill>
              <a:srgbClr val="2A6FB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786384" y="182880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11827"/>
                </a:solidFill>
              </a:rPr>
              <a:t>Landing Storage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545336" y="2176272"/>
            <a:ext cx="0" cy="420624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749808" y="2596896"/>
            <a:ext cx="1600200" cy="420624"/>
          </a:xfrm>
          <a:prstGeom prst="roundRect">
            <a:avLst>
              <a:gd name="adj" fmla="val 10870"/>
            </a:avLst>
          </a:prstGeom>
          <a:solidFill>
            <a:srgbClr val="EAF8F2"/>
          </a:solidFill>
          <a:ln w="12700">
            <a:solidFill>
              <a:srgbClr val="1E7B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786384" y="264261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Validation / Scan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Schema • malware • quality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1545336" y="3035808"/>
            <a:ext cx="0" cy="457200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713232" y="3493008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EAF8F2"/>
          </a:solidFill>
          <a:ln w="12700">
            <a:solidFill>
              <a:srgbClr val="1E7B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49808" y="353872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Scheduler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45336" y="4005072"/>
            <a:ext cx="0" cy="521208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1682496" y="4261104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1A7"/>
                </a:solidFill>
              </a:rPr>
              <a:t>triggers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3232" y="4526280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FFF4E0"/>
          </a:solidFill>
          <a:ln w="12700">
            <a:solidFill>
              <a:srgbClr val="E3A13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49808" y="4572000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Processor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40280" y="5349240"/>
            <a:ext cx="1508760" cy="420624"/>
          </a:xfrm>
          <a:prstGeom prst="roundRect">
            <a:avLst>
              <a:gd name="adj" fmla="val 10870"/>
            </a:avLst>
          </a:prstGeom>
          <a:solidFill>
            <a:srgbClr val="EAF3FF"/>
          </a:solidFill>
          <a:ln w="12700">
            <a:solidFill>
              <a:srgbClr val="2A6FB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2276856" y="5394960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Event Bus /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111827"/>
                </a:solidFill>
              </a:rPr>
              <a:t>Integration Adapters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2257937" y="5065776"/>
            <a:ext cx="0" cy="283464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2971800" y="5779008"/>
            <a:ext cx="2880360" cy="0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2971800" y="5779008"/>
            <a:ext cx="0" cy="237744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4389120" y="5779008"/>
            <a:ext cx="0" cy="237744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5806440" y="5779008"/>
            <a:ext cx="0" cy="237744"/>
          </a:xfrm>
          <a:prstGeom prst="line">
            <a:avLst/>
          </a:prstGeom>
          <a:noFill/>
          <a:ln w="12700">
            <a:solidFill>
              <a:srgbClr val="7A8C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2523744" y="601675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2560320" y="606247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OMS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3950208" y="601675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3986784" y="606247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WMS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5349240" y="601675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/>
          <p:nvPr/>
        </p:nvSpPr>
        <p:spPr>
          <a:xfrm>
            <a:off x="5385816" y="606247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111827"/>
                </a:solidFill>
              </a:rPr>
              <a:t>ERP/POS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3108960" y="1133856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E7F7F4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3218688" y="1252728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E7B66"/>
                </a:solidFill>
              </a:rPr>
              <a:t>SCHEDULER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218688" y="1499616"/>
            <a:ext cx="206654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When to execute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Dependency checks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Job state / triggering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5577840" y="1133856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4E0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5687568" y="1252728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B45309"/>
                </a:solidFill>
              </a:rPr>
              <a:t>PROCESSOR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687568" y="1499616"/>
            <a:ext cx="206654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What to process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Validation / transformation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Business processing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Record-level failures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046720" y="1133856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4" name="Text 42"/>
          <p:cNvSpPr/>
          <p:nvPr/>
        </p:nvSpPr>
        <p:spPr>
          <a:xfrm>
            <a:off x="8156448" y="1252728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2A6FBB"/>
                </a:solidFill>
              </a:rPr>
              <a:t>STATE AND CONTROL POINTS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8156448" y="1499616"/>
            <a:ext cx="288950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Batch job store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Job ID , file metadata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status , checkpoints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audit metadata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2564104" y="2880361"/>
            <a:ext cx="1920240" cy="995748"/>
          </a:xfrm>
          <a:prstGeom prst="can">
            <a:avLst/>
          </a:prstGeom>
          <a:solidFill>
            <a:srgbClr val="EAF3FF"/>
          </a:solidFill>
          <a:ln w="12700">
            <a:solidFill>
              <a:srgbClr val="98D4C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Text 45"/>
          <p:cNvSpPr/>
          <p:nvPr/>
        </p:nvSpPr>
        <p:spPr>
          <a:xfrm>
            <a:off x="2615183" y="3260310"/>
            <a:ext cx="18105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Batch Job Store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(</a:t>
            </a:r>
            <a:r>
              <a:rPr lang="en-US" sz="800" dirty="0" err="1">
                <a:solidFill>
                  <a:srgbClr val="111827"/>
                </a:solidFill>
              </a:rPr>
              <a:t>status,checkpoint</a:t>
            </a:r>
            <a:r>
              <a:rPr lang="en-US" sz="800" dirty="0">
                <a:solidFill>
                  <a:srgbClr val="111827"/>
                </a:solidFill>
              </a:rPr>
              <a:t>, audit, dependencies, audit ) 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03110" y="2258410"/>
            <a:ext cx="5619423" cy="107725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9" name="Text 47"/>
          <p:cNvSpPr/>
          <p:nvPr/>
        </p:nvSpPr>
        <p:spPr>
          <a:xfrm>
            <a:off x="5669280" y="2362146"/>
            <a:ext cx="4169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71920"/>
                </a:solidFill>
              </a:rPr>
              <a:t>DESIGN RATIONALE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669280" y="2577030"/>
            <a:ext cx="5232574" cy="683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GB" sz="900" dirty="0"/>
              <a:t>Batch and real-time use different ingestion paths</a:t>
            </a:r>
          </a:p>
          <a:p>
            <a:r>
              <a:rPr lang="en-GB" sz="900" dirty="0"/>
              <a:t>while reusing the same event backbone and downstream adapters for consistent processing and easier maintenance.</a:t>
            </a:r>
          </a:p>
        </p:txBody>
      </p:sp>
      <p:sp>
        <p:nvSpPr>
          <p:cNvPr id="51" name="Shape 49"/>
          <p:cNvSpPr/>
          <p:nvPr/>
        </p:nvSpPr>
        <p:spPr>
          <a:xfrm>
            <a:off x="8046720" y="3547872"/>
            <a:ext cx="3108960" cy="1325880"/>
          </a:xfrm>
          <a:prstGeom prst="roundRect">
            <a:avLst>
              <a:gd name="adj" fmla="val 4138"/>
            </a:avLst>
          </a:prstGeom>
          <a:solidFill>
            <a:srgbClr val="FDEDE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2" name="Text 50"/>
          <p:cNvSpPr/>
          <p:nvPr/>
        </p:nvSpPr>
        <p:spPr>
          <a:xfrm>
            <a:off x="8156448" y="3666744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71920"/>
                </a:solidFill>
              </a:rPr>
              <a:t>FAILURE HANDLING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8156448" y="3913632"/>
            <a:ext cx="288950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GB" sz="800" dirty="0"/>
              <a:t>Failed records are isolated without failing the entire batch.</a:t>
            </a:r>
            <a:br>
              <a:rPr lang="en-GB" sz="800" dirty="0"/>
            </a:br>
            <a:r>
              <a:rPr lang="en-US" sz="800" dirty="0">
                <a:solidFill>
                  <a:srgbClr val="111827"/>
                </a:solidFill>
              </a:rPr>
              <a:t>Checkpoint restart avoids full rerun</a:t>
            </a:r>
            <a:endParaRPr lang="en-US" sz="800" dirty="0"/>
          </a:p>
          <a:p>
            <a:pPr marL="0" indent="0">
              <a:buNone/>
            </a:pPr>
            <a:r>
              <a:rPr lang="en-US" sz="830" dirty="0">
                <a:solidFill>
                  <a:srgbClr val="111827"/>
                </a:solidFill>
              </a:rPr>
              <a:t>Backpressure protects internal systems</a:t>
            </a:r>
            <a:endParaRPr lang="en-US" sz="830" dirty="0"/>
          </a:p>
          <a:p>
            <a:pPr marL="0" indent="0">
              <a:buNone/>
            </a:pPr>
            <a:r>
              <a:rPr lang="en-GB" sz="800" dirty="0"/>
              <a:t>Reconciliation is outside the scope of this exercise</a:t>
            </a:r>
            <a:endParaRPr lang="en-US" sz="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0ED9B0-E698-1770-69B9-EE3DE43D3A4C}"/>
              </a:ext>
            </a:extLst>
          </p:cNvPr>
          <p:cNvSpPr txBox="1"/>
          <p:nvPr/>
        </p:nvSpPr>
        <p:spPr>
          <a:xfrm>
            <a:off x="3108960" y="4242816"/>
            <a:ext cx="4249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The boxes in this diagram represent logical components, not necessarily one microservice per box. </a:t>
            </a:r>
            <a:br>
              <a:rPr lang="en-GB" sz="800" dirty="0"/>
            </a:br>
            <a:r>
              <a:rPr lang="en-GB" sz="800" dirty="0"/>
              <a:t>Depending on scaling, ownership, resiliency, and deployment needs, </a:t>
            </a:r>
            <a:br>
              <a:rPr lang="en-GB" sz="800" dirty="0"/>
            </a:br>
            <a:r>
              <a:rPr lang="en-GB" sz="800" dirty="0"/>
              <a:t>a component could be implemented as a module within a larger service or as an independently deployable service.</a:t>
            </a:r>
            <a:endParaRPr lang="en-NL" sz="800" dirty="0"/>
          </a:p>
        </p:txBody>
      </p:sp>
      <p:sp>
        <p:nvSpPr>
          <p:cNvPr id="59" name="Text 47">
            <a:extLst>
              <a:ext uri="{FF2B5EF4-FFF2-40B4-BE49-F238E27FC236}">
                <a16:creationId xmlns:a16="http://schemas.microsoft.com/office/drawing/2014/main" id="{343329E5-1170-C8A4-8ABF-5BDC940FF7BD}"/>
              </a:ext>
            </a:extLst>
          </p:cNvPr>
          <p:cNvSpPr/>
          <p:nvPr/>
        </p:nvSpPr>
        <p:spPr>
          <a:xfrm>
            <a:off x="3200400" y="4073429"/>
            <a:ext cx="4169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00" dirty="0">
                <a:solidFill>
                  <a:srgbClr val="FF0000"/>
                </a:solidFill>
              </a:rPr>
              <a:t>Deployment Flexibility</a:t>
            </a:r>
            <a:endParaRPr lang="en-US" sz="600" dirty="0">
              <a:solidFill>
                <a:srgbClr val="FF0000"/>
              </a:solidFill>
            </a:endParaRPr>
          </a:p>
        </p:txBody>
      </p:sp>
      <p:sp>
        <p:nvSpPr>
          <p:cNvPr id="61" name="Shape 35">
            <a:extLst>
              <a:ext uri="{FF2B5EF4-FFF2-40B4-BE49-F238E27FC236}">
                <a16:creationId xmlns:a16="http://schemas.microsoft.com/office/drawing/2014/main" id="{4FF83145-CC18-1CE5-EBE7-DBB3885DF461}"/>
              </a:ext>
            </a:extLst>
          </p:cNvPr>
          <p:cNvSpPr/>
          <p:nvPr/>
        </p:nvSpPr>
        <p:spPr>
          <a:xfrm>
            <a:off x="8046701" y="5062308"/>
            <a:ext cx="3108960" cy="1164747"/>
          </a:xfrm>
          <a:prstGeom prst="roundRect">
            <a:avLst>
              <a:gd name="adj" fmla="val 5714"/>
            </a:avLst>
          </a:prstGeom>
          <a:solidFill>
            <a:srgbClr val="E7F7F4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2" name="Text 50">
            <a:extLst>
              <a:ext uri="{FF2B5EF4-FFF2-40B4-BE49-F238E27FC236}">
                <a16:creationId xmlns:a16="http://schemas.microsoft.com/office/drawing/2014/main" id="{15FE71F0-6EC0-51DE-7BA4-5EBDA5658BC7}"/>
              </a:ext>
            </a:extLst>
          </p:cNvPr>
          <p:cNvSpPr/>
          <p:nvPr/>
        </p:nvSpPr>
        <p:spPr>
          <a:xfrm>
            <a:off x="8156448" y="5128050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00" b="1" dirty="0"/>
              <a:t>Batch Scalability</a:t>
            </a:r>
            <a:endParaRPr lang="en-US" sz="600" b="1" dirty="0"/>
          </a:p>
        </p:txBody>
      </p:sp>
      <p:sp>
        <p:nvSpPr>
          <p:cNvPr id="55" name="Text 53"/>
          <p:cNvSpPr/>
          <p:nvPr/>
        </p:nvSpPr>
        <p:spPr>
          <a:xfrm>
            <a:off x="8159509" y="5321808"/>
            <a:ext cx="2941297" cy="7543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sz="800" dirty="0"/>
              <a:t>Large batch workloads can be split into chunks and processed in parallel</a:t>
            </a:r>
            <a:br>
              <a:rPr lang="en-GB" sz="800" dirty="0"/>
            </a:br>
            <a:r>
              <a:rPr lang="en-GB" sz="800" dirty="0"/>
              <a:t>where ordering and business rules allow independent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10896" y="228600"/>
            <a:ext cx="76809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0">
                <a:solidFill>
                  <a:srgbClr val="0B1F3A"/>
                </a:solidFill>
                <a:latin typeface="Aptos Display"/>
              </a:defRPr>
            </a:pPr>
            <a:r>
              <a:rPr dirty="0"/>
              <a:t>Major Risks, Design Rationale &amp; AI Readiness</a:t>
            </a:r>
          </a:p>
        </p:txBody>
      </p:sp>
      <p:sp>
        <p:nvSpPr>
          <p:cNvPr id="4" name="Text 2"/>
          <p:cNvSpPr/>
          <p:nvPr/>
        </p:nvSpPr>
        <p:spPr>
          <a:xfrm>
            <a:off x="310896" y="539496"/>
            <a:ext cx="104241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050">
                <a:solidFill>
                  <a:srgbClr val="5B6B7A"/>
                </a:solidFill>
                <a:latin typeface="Aptos"/>
              </a:defRPr>
            </a:pPr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310896" y="868680"/>
            <a:ext cx="11567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92608" y="656539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94A3B8"/>
                </a:solidFill>
              </a:rPr>
              <a:t>Solution Intent | Strategic Partner Integration | 5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58978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12648" y="1188720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Major Risk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32888" y="1188720"/>
            <a:ext cx="3758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Mitigation / Architectural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426464"/>
            <a:ext cx="19202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1426464"/>
            <a:ext cx="39776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94360" y="1536192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Downstream outage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536192"/>
            <a:ext cx="3813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Durable messaging, retry, DLQ, replay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1819656"/>
            <a:ext cx="19202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423160" y="1819656"/>
            <a:ext cx="39776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1929384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Duplicate 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1929384"/>
            <a:ext cx="3813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Idempotency keys, processed-event checks ( event level)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212848"/>
            <a:ext cx="19202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423160" y="2212848"/>
            <a:ext cx="39776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2322576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Message loss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2322576"/>
            <a:ext cx="3813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Return 202 only after durable publish succeeds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606040"/>
            <a:ext cx="19202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423160" y="2606040"/>
            <a:ext cx="39776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94360" y="2715768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Traffic spikes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2715768"/>
            <a:ext cx="3813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Rate limits, buffering, autoscaling, consumer backpressure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2999232"/>
            <a:ext cx="19202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423160" y="2999232"/>
            <a:ext cx="39776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94360" y="3108960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Storage bottleneck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3108960"/>
            <a:ext cx="3813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dirty="0">
                <a:solidFill>
                  <a:srgbClr val="111827"/>
                </a:solidFill>
              </a:rPr>
              <a:t>Partitioned , indexed operational state, retention controls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392424"/>
            <a:ext cx="19202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2423160" y="3392424"/>
            <a:ext cx="39776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94360" y="3502152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Contract/schema changes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3502152"/>
            <a:ext cx="3813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Versioning, schema governance, compatibility rules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785616"/>
            <a:ext cx="19202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2423160" y="3785616"/>
            <a:ext cx="39776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94360" y="3895344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Sensitive data exposure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14600" y="3895344"/>
            <a:ext cx="3813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OAuth/mTLS, encryption, least privilege, audit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178808"/>
            <a:ext cx="19202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2423160" y="4178808"/>
            <a:ext cx="39776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94360" y="4288536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Regional/platform failure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14600" y="4288536"/>
            <a:ext cx="3813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DR, replication, IaC, tested recovery, RTO/RPO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85800" y="5907024"/>
            <a:ext cx="10698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Reusable integration platform today; observable, automatable and AI-ready by design.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75120" y="932688"/>
            <a:ext cx="4846320" cy="1874519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876288" y="1060704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Aptos"/>
              </a:defRPr>
            </a:pPr>
            <a:r>
              <a:t>KEY DESIGN RATIONALE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76288" y="1389888"/>
            <a:ext cx="4407408" cy="118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019">
                <a:solidFill>
                  <a:srgbClr val="203040"/>
                </a:solidFill>
                <a:latin typeface="Aptos"/>
              </a:defRPr>
            </a:pPr>
            <a:r>
              <a:rPr dirty="0"/>
              <a:t>Integration boundary → central security, governance and partner isolation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19">
                <a:solidFill>
                  <a:srgbClr val="203040"/>
                </a:solidFill>
                <a:latin typeface="Aptos"/>
              </a:defRPr>
            </a:pPr>
            <a:r>
              <a:rPr dirty="0"/>
              <a:t>API + durable messaging → decouple ingestion from downstream availability and capacity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19">
                <a:solidFill>
                  <a:srgbClr val="203040"/>
                </a:solidFill>
                <a:latin typeface="Aptos"/>
              </a:defRPr>
            </a:pPr>
            <a:r>
              <a:rPr dirty="0"/>
              <a:t>Operational state + idempotency → safe retry, status tracking and auditability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19">
                <a:solidFill>
                  <a:srgbClr val="203040"/>
                </a:solidFill>
                <a:latin typeface="Aptos"/>
              </a:defRPr>
            </a:pPr>
            <a:r>
              <a:rPr dirty="0"/>
              <a:t>Adapters + scheduler/processor separation → isolate change 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675120" y="2901241"/>
            <a:ext cx="4846320" cy="153359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876288" y="3037551"/>
            <a:ext cx="44348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Aptos"/>
              </a:defRPr>
            </a:pPr>
            <a:r>
              <a:rPr lang="en-GB" dirty="0"/>
              <a:t>Automation &amp; Agentic Operations</a:t>
            </a:r>
            <a:endParaRPr dirty="0"/>
          </a:p>
        </p:txBody>
      </p:sp>
      <p:sp>
        <p:nvSpPr>
          <p:cNvPr id="79" name="TextBox 78"/>
          <p:cNvSpPr txBox="1"/>
          <p:nvPr/>
        </p:nvSpPr>
        <p:spPr>
          <a:xfrm>
            <a:off x="6876288" y="3351483"/>
            <a:ext cx="441655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20" b="1" dirty="0"/>
              <a:t>Deterministic Automation</a:t>
            </a:r>
            <a:br>
              <a:rPr lang="en-GB" sz="1020" dirty="0"/>
            </a:br>
            <a:r>
              <a:rPr lang="en-GB" sz="1020" dirty="0"/>
              <a:t>Functions / Logic Apps → predefined workflows</a:t>
            </a:r>
            <a:br>
              <a:rPr lang="en-GB" sz="1020" dirty="0"/>
            </a:br>
            <a:endParaRPr lang="en-GB" sz="1020" dirty="0"/>
          </a:p>
          <a:p>
            <a:r>
              <a:rPr lang="en-GB" sz="1020" b="1" dirty="0"/>
              <a:t>Agentic Operations</a:t>
            </a:r>
            <a:br>
              <a:rPr lang="en-GB" sz="1020" dirty="0"/>
            </a:br>
            <a:r>
              <a:rPr lang="en-GB" sz="1020" dirty="0"/>
              <a:t>LLM → MCP Orchestrator → governed MCP servers → operational systems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DB0F288-AE47-A2FC-D282-3A60C1A86920}"/>
              </a:ext>
            </a:extLst>
          </p:cNvPr>
          <p:cNvSpPr/>
          <p:nvPr/>
        </p:nvSpPr>
        <p:spPr>
          <a:xfrm>
            <a:off x="6647688" y="4571149"/>
            <a:ext cx="4846320" cy="153359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917C68-A992-3FCB-9928-A6A21BE4AA2A}"/>
              </a:ext>
            </a:extLst>
          </p:cNvPr>
          <p:cNvSpPr txBox="1"/>
          <p:nvPr/>
        </p:nvSpPr>
        <p:spPr>
          <a:xfrm>
            <a:off x="6830568" y="4660259"/>
            <a:ext cx="44348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Aptos"/>
              </a:defRPr>
            </a:pPr>
            <a:r>
              <a:rPr lang="en-GB" dirty="0"/>
              <a:t>Immutable Platform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210401-8236-E184-F1DF-A7169CA23C50}"/>
              </a:ext>
            </a:extLst>
          </p:cNvPr>
          <p:cNvSpPr txBox="1"/>
          <p:nvPr/>
        </p:nvSpPr>
        <p:spPr>
          <a:xfrm>
            <a:off x="6830568" y="4956049"/>
            <a:ext cx="4416552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20" dirty="0"/>
              <a:t>- </a:t>
            </a:r>
            <a:r>
              <a:rPr lang="en-GB" sz="1020" dirty="0" err="1"/>
              <a:t>IaC</a:t>
            </a:r>
            <a:r>
              <a:rPr lang="en-GB" sz="1020" dirty="0"/>
              <a:t> with Terraform / Bicep </a:t>
            </a:r>
            <a:br>
              <a:rPr lang="en-GB" sz="1020" dirty="0"/>
            </a:br>
            <a:r>
              <a:rPr lang="en-GB" sz="1020" dirty="0"/>
              <a:t>- Git as source of truth</a:t>
            </a:r>
            <a:br>
              <a:rPr lang="en-GB" sz="1020" dirty="0"/>
            </a:br>
            <a:r>
              <a:rPr lang="en-GB" sz="1020" dirty="0"/>
              <a:t>- Immutable versioned deployments</a:t>
            </a:r>
            <a:br>
              <a:rPr lang="en-GB" sz="1020" dirty="0"/>
            </a:br>
            <a:r>
              <a:rPr lang="en-GB" sz="1020" dirty="0"/>
              <a:t>- Repeatable recovery through </a:t>
            </a:r>
            <a:r>
              <a:rPr lang="en-GB" sz="1020" dirty="0" err="1"/>
              <a:t>GitOps</a:t>
            </a:r>
            <a:endParaRPr lang="en-GB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952</Words>
  <Application>Microsoft Macintosh PowerPoint</Application>
  <PresentationFormat>Widescreen</PresentationFormat>
  <Paragraphs>169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Partner Integration Solution Intent</dc:title>
  <dc:subject>Strategic Partner Integration Solution Intent</dc:subject>
  <dc:creator>OpenAI</dc:creator>
  <cp:lastModifiedBy>Ali Sharifi</cp:lastModifiedBy>
  <cp:revision>6</cp:revision>
  <dcterms:created xsi:type="dcterms:W3CDTF">2026-08-08T21:00:58Z</dcterms:created>
  <dcterms:modified xsi:type="dcterms:W3CDTF">2026-08-11T01:55:04Z</dcterms:modified>
</cp:coreProperties>
</file>